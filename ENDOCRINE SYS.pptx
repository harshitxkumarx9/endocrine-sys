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0A"/>
    <a:srgbClr val="211985"/>
    <a:srgbClr val="7F2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37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FC523-C2C9-49C1-9EA7-11DAAD2F037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52D05-5B3A-4C81-A09F-FD75205E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1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52D05-5B3A-4C81-A09F-FD75205E74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3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781300" y="929640"/>
            <a:ext cx="3581400" cy="533400"/>
          </a:xfrm>
          <a:prstGeom prst="roundRect">
            <a:avLst/>
          </a:prstGeom>
          <a:solidFill>
            <a:srgbClr val="00640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ENDOCRINE SYSTEM</a:t>
            </a:r>
            <a:endParaRPr lang="en-US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2781300" y="1733550"/>
            <a:ext cx="3581400" cy="5334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FEEDBACK MECHANISM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867150" y="3028950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-&gt; GROUP : 6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17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933700" y="160338"/>
            <a:ext cx="3276600" cy="533400"/>
          </a:xfrm>
          <a:prstGeom prst="round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PINEAL GLAND</a:t>
            </a:r>
            <a:endParaRPr lang="en-US" b="1" dirty="0"/>
          </a:p>
        </p:txBody>
      </p:sp>
      <p:sp>
        <p:nvSpPr>
          <p:cNvPr id="4" name="AutoShape 2" descr="Pineal Gland Function: Producing Melatonin &amp; Regulating Sleep - Sleep  Psychiatris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Pineal Gland Function: Producing Melatonin &amp; Regulating Sleep - Sleep  Psychiatris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1041598"/>
            <a:ext cx="2819595" cy="2069703"/>
          </a:xfrm>
          <a:prstGeom prst="roundRect">
            <a:avLst>
              <a:gd name="adj" fmla="val 11322"/>
            </a:avLst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178434" y="819150"/>
            <a:ext cx="5902325" cy="2514600"/>
          </a:xfrm>
          <a:prstGeom prst="roundRect">
            <a:avLst/>
          </a:prstGeom>
          <a:solidFill>
            <a:srgbClr val="00640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Location and Anatomy</a:t>
            </a:r>
          </a:p>
          <a:p>
            <a:r>
              <a:rPr lang="en-US" b="1" dirty="0"/>
              <a:t>Size:</a:t>
            </a:r>
            <a:r>
              <a:rPr lang="en-US" dirty="0"/>
              <a:t> Measures about 5 to 8 mm in humans (the size of a grain of rice) and weighs roughly 100 to 180 mg.</a:t>
            </a:r>
          </a:p>
          <a:p>
            <a:r>
              <a:rPr lang="en-US" b="1" dirty="0"/>
              <a:t>Position:</a:t>
            </a:r>
            <a:r>
              <a:rPr lang="en-US" dirty="0"/>
              <a:t> Sits in the midline of the brain, nestled in a groove between the thalamic bodies and just behind the third ventricle.</a:t>
            </a:r>
          </a:p>
          <a:p>
            <a:r>
              <a:rPr lang="en-US" b="1" dirty="0"/>
              <a:t>Structure:</a:t>
            </a:r>
            <a:r>
              <a:rPr lang="en-US" dirty="0"/>
              <a:t> Part of the </a:t>
            </a:r>
            <a:r>
              <a:rPr lang="en-US" dirty="0" err="1"/>
              <a:t>epithalamus</a:t>
            </a:r>
            <a:r>
              <a:rPr lang="en-US" dirty="0"/>
              <a:t>, made up of specialized secretory cells called </a:t>
            </a:r>
            <a:r>
              <a:rPr lang="en-US" dirty="0" err="1"/>
              <a:t>pinealocytes</a:t>
            </a:r>
            <a:endParaRPr lang="en-US" dirty="0"/>
          </a:p>
          <a:p>
            <a:pPr algn="ctr"/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78434" y="3409950"/>
            <a:ext cx="8813360" cy="1604010"/>
          </a:xfrm>
          <a:prstGeom prst="roundRect">
            <a:avLst/>
          </a:prstGeom>
          <a:solidFill>
            <a:srgbClr val="7F2F2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Core </a:t>
            </a:r>
            <a:r>
              <a:rPr lang="en-US" b="1" dirty="0" smtClean="0"/>
              <a:t>Functions:-</a:t>
            </a:r>
            <a:endParaRPr lang="en-US" b="1" dirty="0"/>
          </a:p>
          <a:p>
            <a:r>
              <a:rPr lang="en-US" b="1" dirty="0"/>
              <a:t>Circadian Rhythm:</a:t>
            </a:r>
            <a:r>
              <a:rPr lang="en-US" dirty="0"/>
              <a:t> Regulates the body's internal biological clock by releasing </a:t>
            </a:r>
            <a:r>
              <a:rPr lang="en-US" dirty="0" smtClean="0"/>
              <a:t>melatonin </a:t>
            </a:r>
            <a:r>
              <a:rPr lang="en-US" dirty="0"/>
              <a:t>in response to darkness.</a:t>
            </a:r>
          </a:p>
          <a:p>
            <a:r>
              <a:rPr lang="en-US" b="1" dirty="0" smtClean="0"/>
              <a:t>Reproductive </a:t>
            </a:r>
            <a:r>
              <a:rPr lang="en-US" b="1" dirty="0"/>
              <a:t>Support:</a:t>
            </a:r>
            <a:r>
              <a:rPr lang="en-US" dirty="0"/>
              <a:t> Influences sexual maturation and endocrine functions, particularly during puberty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48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933700" y="160338"/>
            <a:ext cx="3276600" cy="53340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HYPOTHALAMUS</a:t>
            </a:r>
            <a:endParaRPr 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78434" y="819150"/>
            <a:ext cx="5902325" cy="1981200"/>
          </a:xfrm>
          <a:prstGeom prst="roundRect">
            <a:avLst/>
          </a:prstGeom>
          <a:solidFill>
            <a:srgbClr val="21198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Location and Size</a:t>
            </a:r>
          </a:p>
          <a:p>
            <a:r>
              <a:rPr lang="en-US" dirty="0"/>
              <a:t>Sits deep inside the center of the brain.</a:t>
            </a:r>
          </a:p>
          <a:p>
            <a:r>
              <a:rPr lang="en-US" dirty="0"/>
              <a:t>Located right below the thalamus and directly above the pituitary gland.</a:t>
            </a:r>
          </a:p>
          <a:p>
            <a:r>
              <a:rPr lang="en-US" dirty="0"/>
              <a:t>Weighs only about 4 grams, making up a very small part of the total brain</a:t>
            </a:r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353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8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0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7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8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6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4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2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6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57150"/>
            <a:ext cx="89916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0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156</Words>
  <Application>Microsoft Office PowerPoint</Application>
  <PresentationFormat>On-screen Show (16:9)</PresentationFormat>
  <Paragraphs>17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</cp:revision>
  <dcterms:created xsi:type="dcterms:W3CDTF">2006-08-16T00:00:00Z</dcterms:created>
  <dcterms:modified xsi:type="dcterms:W3CDTF">2026-09-16T16:25:55Z</dcterms:modified>
</cp:coreProperties>
</file>